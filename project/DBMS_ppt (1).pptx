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08-27T13:22:03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956E60-9459-47BA-94A1-B3C0A6AB0B97}" type="datetimeFigureOut">
              <a:t>27/08/2026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0A51E-0CC8-41B5-9351-AFA7E922E51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02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lms_ppt/icon_graduationc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LEARNING MANAGEMENT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Digital Platform for Teaching, Learning &amp; Assessment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22960" y="4709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Project Review – 2  |  DBMS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64008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600200" y="214884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lms_ppt/icon_graduationcap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590" y="2529230"/>
            <a:ext cx="702259" cy="7022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86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classrooms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connectivity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7091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content, assessment, and communication.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480560" y="1600200"/>
            <a:ext cx="71323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t>The Online Learning Management System (LMS) is designed as a centralized platform for managing online learning activities. It organizes information related to students, instructors, courses, enrollments, assessments, and learning materials.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Existing System vs 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64008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Comparison of the limitations of existing learning management methods and the improvements offered by the proposed centralized LMS.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222199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lms_ppt/icon_filea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40030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854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Existing: Fragmented Data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62432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t>Student, course, and learning information may be stored in different files or systems.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245352" y="222199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home/claude/lms_ppt/icon_chartb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24003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21854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Existing: Manual Management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086600" y="262432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t>Managing enrollments, records, and learning information manually can be time-consuming.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04672" y="446227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/home/claude/lms_ppt/icon_comment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64058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425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Existing: Data Duplication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45920" y="486460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t>Repeated or disconnected records can lead to inconsistency and difficulty in retrieval.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8932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6245352" y="446227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/home/claude/lms_ppt/icon_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46405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425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Proposed: Centralized LMS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086600" y="486460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t>A centralized database-based system organizes students, courses, enrollments, and learning materials for easier management and retrieval.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Proposed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64008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8882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lms_ppt/icon_clipboard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24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86207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1. Users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400"/>
              <a:t>Students, Instructors, and Admin interact with the LMS.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573786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lms_ppt/icon_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28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286207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2. LMS Application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0560" y="3322320"/>
            <a:ext cx="3144520" cy="817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400"/>
              <a:t>Handles student management, course management, enrollment, and learning</a:t>
            </a:r>
            <a:r>
              <a:rPr sz="1400" dirty="0"/>
              <a:t> </a:t>
            </a:r>
            <a:r>
              <a:rPr sz="1400"/>
              <a:t>materials.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64441" y="1882553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48690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lms_ppt/icon_certifica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3321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86207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3. Database Layer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47321" y="3197329"/>
            <a:ext cx="31546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400"/>
              <a:t>Stores and retrieves information required by the LMS.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198882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lms_ppt/icon_video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5241" y="46927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" y="528523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4. Main Data Entities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1520" y="5715000"/>
            <a:ext cx="31546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400"/>
              <a:t>Students, Instructors, Courses, Enrollments, and Learning Materials.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297680" y="42976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573786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lms_ppt/icon_comment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4281" y="46927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62272" y="528523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5. Data Relationships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80560" y="5715000"/>
            <a:ext cx="31546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400"/>
              <a:t>Students enroll in courses, instructors manage courses, and courses contain learning materials.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046720" y="42976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6547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948690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5" descr="/home/claude/lms_ppt/icon_chartba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3321" y="46927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5285232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t>Flow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29600" y="5715000"/>
            <a:ext cx="31546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sz="1400"/>
              <a:t>Users → LMS Application → Database → Stored and Retrieved Information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Tools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64008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31620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lms_ppt/icon_laptopcod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41" y="2150669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53512"/>
            <a:ext cx="24231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MySQL</a:t>
            </a:r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" y="3520440"/>
            <a:ext cx="214884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52400" indent="-152400">
              <a:lnSpc>
                <a:spcPct val="150000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Used to </a:t>
            </a:r>
            <a:r>
              <a:rPr lang="en-US" sz="1150" b="1">
                <a:solidFill>
                  <a:srgbClr val="1B2733"/>
                </a:solidFill>
                <a:ea typeface="+mn-lt"/>
                <a:cs typeface="+mn-lt"/>
              </a:rPr>
              <a:t>store and manage data</a:t>
            </a: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 such as students, instructors, courses, and enrollments.</a:t>
            </a:r>
            <a:endParaRPr lang="en-US" sz="1150" dirty="0">
              <a:solidFill>
                <a:srgbClr val="1B2733"/>
              </a:solidFill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01568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401568" y="17830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401568" y="2286000"/>
            <a:ext cx="2606040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384548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/home/claude/lms_ppt/icon_server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969" y="215066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3008" y="2953512"/>
            <a:ext cx="24231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💻 MySQL Workbench</a:t>
            </a:r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657600" y="3520440"/>
            <a:ext cx="214884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>
              <a:lnSpc>
                <a:spcPct val="150000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Used to </a:t>
            </a:r>
            <a:r>
              <a:rPr lang="en-US" sz="1150" b="1">
                <a:solidFill>
                  <a:srgbClr val="1B2733"/>
                </a:solidFill>
                <a:ea typeface="+mn-lt"/>
                <a:cs typeface="+mn-lt"/>
              </a:rPr>
              <a:t>create databases and tables</a:t>
            </a: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 and execute SQL queries.</a:t>
            </a:r>
            <a:endParaRPr lang="en-US" sz="1150" dirty="0">
              <a:solidFill>
                <a:srgbClr val="1B2733"/>
              </a:solidFill>
              <a:ea typeface="Calibri"/>
              <a:cs typeface="Calibri"/>
            </a:endParaRPr>
          </a:p>
          <a:p>
            <a:pPr marL="152400" indent="-152400">
              <a:lnSpc>
                <a:spcPct val="150000"/>
              </a:lnSpc>
              <a:spcAft>
                <a:spcPts val="800"/>
              </a:spcAft>
              <a:buSzPct val="100000"/>
              <a:buChar char="●"/>
            </a:pPr>
            <a:endParaRPr lang="en-US" sz="1150" dirty="0">
              <a:solidFill>
                <a:srgbClr val="1B2733"/>
              </a:solidFill>
              <a:ea typeface="Calibri"/>
              <a:cs typeface="Calibri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254496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6254496" y="17830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6254496" y="2286000"/>
            <a:ext cx="260604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7237476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/home/claude/lms_ppt/icon_database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897" y="2150669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45936" y="2953512"/>
            <a:ext cx="24231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📄 SQL</a:t>
            </a:r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510528" y="3520440"/>
            <a:ext cx="214884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Used to perform database operations such as:</a:t>
            </a:r>
            <a:endParaRPr lang="en-US" sz="1150" dirty="0">
              <a:solidFill>
                <a:srgbClr val="1B2733"/>
              </a:solidFill>
              <a:ea typeface="Calibri"/>
              <a:cs typeface="Calibri"/>
            </a:endParaRPr>
          </a:p>
          <a:p>
            <a:pPr marL="152400" indent="-152400">
              <a:lnSpc>
                <a:spcPct val="150000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150" dirty="0">
                <a:solidFill>
                  <a:srgbClr val="1B2733"/>
                </a:solidFill>
                <a:ea typeface="+mn-lt"/>
                <a:cs typeface="+mn-lt"/>
              </a:rPr>
              <a:t> </a:t>
            </a:r>
            <a:r>
              <a:rPr lang="en-US" sz="1150" b="1">
                <a:solidFill>
                  <a:srgbClr val="1B2733"/>
                </a:solidFill>
                <a:ea typeface="+mn-lt"/>
                <a:cs typeface="+mn-lt"/>
              </a:rPr>
              <a:t>CREATE, INSERT, SELECT, UPDATE, and DELETE</a:t>
            </a: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107424" y="178308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9107424" y="17830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2"/>
          <p:cNvSpPr/>
          <p:nvPr/>
        </p:nvSpPr>
        <p:spPr>
          <a:xfrm>
            <a:off x="9107424" y="2286000"/>
            <a:ext cx="2606040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10090404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3" descr="/home/claude/lms_ppt/icon_cloud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6825" y="2150669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98864" y="2953512"/>
            <a:ext cx="24231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💻 Visual Studio Code</a:t>
            </a:r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9363456" y="3520440"/>
            <a:ext cx="214884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52400" indent="-152400">
              <a:lnSpc>
                <a:spcPct val="150000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Used to </a:t>
            </a:r>
            <a:r>
              <a:rPr lang="en-US" sz="1150" b="1">
                <a:solidFill>
                  <a:srgbClr val="1B2733"/>
                </a:solidFill>
                <a:ea typeface="+mn-lt"/>
                <a:cs typeface="+mn-lt"/>
              </a:rPr>
              <a:t>write and manage the project code</a:t>
            </a:r>
            <a:r>
              <a:rPr lang="en-US" sz="1150">
                <a:solidFill>
                  <a:srgbClr val="1B2733"/>
                </a:solidFill>
                <a:ea typeface="+mn-lt"/>
                <a:cs typeface="+mn-lt"/>
              </a:rPr>
              <a:t>.</a:t>
            </a:r>
            <a:endParaRPr lang="en-US" sz="1150" dirty="0">
              <a:solidFill>
                <a:srgbClr val="1B2733"/>
              </a:solidFill>
              <a:ea typeface="Calibri"/>
              <a:cs typeface="Calibri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>
          <a:blip r:embed="rId3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93776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64008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Traditional or disconnected methods of managing educational information can create difficulties in organizing and accessing student and course data.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04672" y="22219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645920" y="2185416"/>
            <a:ext cx="37490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>
                <a:solidFill>
                  <a:schemeClr val="bg1"/>
                </a:solidFill>
              </a:rPr>
              <a:t>Data Management</a:t>
            </a:r>
            <a:endParaRPr lang="en-US" sz="14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645920" y="2624328"/>
            <a:ext cx="37490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>
                <a:solidFill>
                  <a:schemeClr val="bg1"/>
                </a:solidFill>
              </a:rPr>
              <a:t>Student, course, and learning information can become difficult to organize when stored separately.</a:t>
            </a:r>
            <a:endParaRPr lang="en-US" sz="11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89320" y="19659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245352" y="22219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/home/claude/lms_ppt/icon_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240030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185416"/>
            <a:ext cx="37490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>
                <a:solidFill>
                  <a:schemeClr val="bg1"/>
                </a:solidFill>
              </a:rPr>
              <a:t>Enrollment Tracking</a:t>
            </a:r>
            <a:endParaRPr lang="en-US" sz="14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086600" y="2624328"/>
            <a:ext cx="37490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sz="1600">
                <a:solidFill>
                  <a:schemeClr val="bg1"/>
                </a:solidFill>
              </a:rPr>
              <a:t>Managing student enrollments and course records manually can be time-consuming.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4864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04672" y="446227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/home/claude/lms_ppt/icon_comment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64058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425696"/>
            <a:ext cx="37490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>
                <a:solidFill>
                  <a:schemeClr val="bg1"/>
                </a:solidFill>
              </a:rPr>
              <a:t>Data Redundancy</a:t>
            </a:r>
            <a:endParaRPr lang="en-US" sz="14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645920" y="4864608"/>
            <a:ext cx="37490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>
                <a:solidFill>
                  <a:schemeClr val="bg1"/>
                </a:solidFill>
              </a:rPr>
              <a:t>Repeated data may lead to duplication and inconsistency.</a:t>
            </a:r>
            <a:endParaRPr lang="en-US" sz="11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989320" y="4206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A23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6245352" y="446227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/home/claude/lms_ppt/icon_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464058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4425696"/>
            <a:ext cx="37490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>
                <a:solidFill>
                  <a:schemeClr val="bg1"/>
                </a:solidFill>
              </a:rPr>
              <a:t>Need for Centralization</a:t>
            </a:r>
            <a:endParaRPr lang="en-US" sz="14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086600" y="4864608"/>
            <a:ext cx="37490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>
                <a:solidFill>
                  <a:schemeClr val="bg1"/>
                </a:solidFill>
              </a:rPr>
              <a:t>A centralized database system is needed to store, organize, and retrieve LMS information efficiently.</a:t>
            </a:r>
            <a:endParaRPr lang="en-US" sz="11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Management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lms_ppt/icon_graduationc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21854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4290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2519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38</cp:revision>
  <dcterms:created xsi:type="dcterms:W3CDTF">2026-08-07T03:33:39Z</dcterms:created>
  <dcterms:modified xsi:type="dcterms:W3CDTF">2026-08-27T13:22:43Z</dcterms:modified>
</cp:coreProperties>
</file>